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82"/>
  </p:normalViewPr>
  <p:slideViewPr>
    <p:cSldViewPr snapToGrid="0" snapToObjects="1">
      <p:cViewPr varScale="1">
        <p:scale>
          <a:sx n="119" d="100"/>
          <a:sy n="119" d="100"/>
        </p:scale>
        <p:origin x="2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98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09560" y="658368"/>
            <a:ext cx="3520440" cy="5394960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66760" y="1143000"/>
            <a:ext cx="2651760" cy="1691640"/>
          </a:xfrm>
          <a:prstGeom prst="roundRect">
            <a:avLst>
              <a:gd name="adj" fmla="val 12000"/>
            </a:avLst>
          </a:prstGeom>
          <a:solidFill>
            <a:srgbClr val="1E2549"/>
          </a:solidFill>
          <a:ln w="12700">
            <a:solidFill>
              <a:srgbClr val="485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613648" y="1389888"/>
            <a:ext cx="2157984" cy="1170432"/>
          </a:xfrm>
          <a:prstGeom prst="roundRect">
            <a:avLst>
              <a:gd name="adj" fmla="val 12000"/>
            </a:avLst>
          </a:prstGeom>
          <a:solidFill>
            <a:srgbClr val="11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05672" y="1645920"/>
            <a:ext cx="1783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F6F7FF"/>
                </a:solidFill>
                <a:latin typeface="Aptos"/>
              </a:defRPr>
            </a:pPr>
            <a:r>
              <a:t>TONIGHT?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7968" y="1993392"/>
            <a:ext cx="16002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63DCFF"/>
                </a:solidFill>
                <a:latin typeface="Aptos"/>
              </a:defRPr>
            </a:pPr>
            <a:r>
              <a:t>Pick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37192" y="2862072"/>
            <a:ext cx="310896" cy="82296"/>
          </a:xfrm>
          <a:prstGeom prst="roundRect">
            <a:avLst>
              <a:gd name="adj" fmla="val 12000"/>
            </a:avLst>
          </a:prstGeom>
          <a:solidFill>
            <a:srgbClr val="B0B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88552" y="2971800"/>
            <a:ext cx="1417320" cy="82296"/>
          </a:xfrm>
          <a:prstGeom prst="roundRect">
            <a:avLst>
              <a:gd name="adj" fmla="val 12000"/>
            </a:avLst>
          </a:prstGeom>
          <a:solidFill>
            <a:srgbClr val="B0B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41080" y="3657600"/>
            <a:ext cx="228600" cy="228600"/>
          </a:xfrm>
          <a:prstGeom prst="ellipse">
            <a:avLst/>
          </a:prstGeom>
          <a:solidFill>
            <a:srgbClr val="9A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/>
          <p:cNvSpPr/>
          <p:nvPr/>
        </p:nvSpPr>
        <p:spPr>
          <a:xfrm>
            <a:off x="8549640" y="3931920"/>
            <a:ext cx="429768" cy="658368"/>
          </a:xfrm>
          <a:prstGeom prst="arc">
            <a:avLst/>
          </a:prstGeom>
          <a:solidFill>
            <a:srgbClr val="9A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67928" y="4160520"/>
            <a:ext cx="393192" cy="365760"/>
          </a:xfrm>
          <a:prstGeom prst="roundRect">
            <a:avLst>
              <a:gd name="adj" fmla="val 12000"/>
            </a:avLst>
          </a:prstGeom>
          <a:solidFill>
            <a:srgbClr val="9A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464040" y="3657600"/>
            <a:ext cx="265176" cy="265176"/>
          </a:xfrm>
          <a:prstGeom prst="ellipse">
            <a:avLst/>
          </a:prstGeom>
          <a:solidFill>
            <a:srgbClr val="3F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rc 12"/>
          <p:cNvSpPr/>
          <p:nvPr/>
        </p:nvSpPr>
        <p:spPr>
          <a:xfrm>
            <a:off x="9372600" y="3931920"/>
            <a:ext cx="429768" cy="658368"/>
          </a:xfrm>
          <a:prstGeom prst="arc">
            <a:avLst/>
          </a:prstGeom>
          <a:solidFill>
            <a:srgbClr val="3F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90888" y="4160520"/>
            <a:ext cx="393192" cy="365760"/>
          </a:xfrm>
          <a:prstGeom prst="roundRect">
            <a:avLst>
              <a:gd name="adj" fmla="val 12000"/>
            </a:avLst>
          </a:prstGeom>
          <a:solidFill>
            <a:srgbClr val="3F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287000" y="3657600"/>
            <a:ext cx="228600" cy="228600"/>
          </a:xfrm>
          <a:prstGeom prst="ellipse">
            <a:avLst/>
          </a:prstGeom>
          <a:solidFill>
            <a:srgbClr val="607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rc 15"/>
          <p:cNvSpPr/>
          <p:nvPr/>
        </p:nvSpPr>
        <p:spPr>
          <a:xfrm>
            <a:off x="10195560" y="3931920"/>
            <a:ext cx="429768" cy="658368"/>
          </a:xfrm>
          <a:prstGeom prst="arc">
            <a:avLst/>
          </a:prstGeom>
          <a:solidFill>
            <a:srgbClr val="607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13848" y="4160520"/>
            <a:ext cx="393192" cy="365760"/>
          </a:xfrm>
          <a:prstGeom prst="roundRect">
            <a:avLst>
              <a:gd name="adj" fmla="val 12000"/>
            </a:avLst>
          </a:prstGeom>
          <a:solidFill>
            <a:srgbClr val="607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5010912"/>
            <a:ext cx="269748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000" b="1" i="0">
                <a:solidFill>
                  <a:srgbClr val="B0B9D3"/>
                </a:solidFill>
                <a:latin typeface="Aptos"/>
              </a:defRPr>
            </a:pPr>
            <a:r>
              <a:t>ONE ROOM  •  ONE REMOTE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40080"/>
            <a:ext cx="5303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63DCFF"/>
                </a:solidFill>
                <a:latin typeface="Aptos"/>
              </a:defRPr>
            </a:pPr>
            <a:r>
              <a:t>SE4041  /  MADD  /  PART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1417320"/>
            <a:ext cx="658368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3700" b="1" i="0">
                <a:solidFill>
                  <a:srgbClr val="F6F7FF"/>
                </a:solidFill>
                <a:latin typeface="Aptos Display"/>
              </a:defRPr>
            </a:pPr>
            <a:r>
              <a:t>The decision</a:t>
            </a:r>
          </a:p>
          <a:p>
            <a:pPr algn="l">
              <a:spcAft>
                <a:spcPts val="400"/>
              </a:spcAft>
              <a:defRPr sz="3700" b="1" i="0">
                <a:solidFill>
                  <a:srgbClr val="F6F7FF"/>
                </a:solidFill>
                <a:latin typeface="Aptos Display"/>
              </a:defRPr>
            </a:pPr>
            <a:r>
              <a:t>before the film.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127248"/>
            <a:ext cx="621792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900" b="0" i="0">
                <a:solidFill>
                  <a:srgbClr val="B0B9D3"/>
                </a:solidFill>
                <a:latin typeface="Aptos"/>
              </a:defRPr>
            </a:pPr>
            <a:r>
              <a:t>A better way for a group to agree on movie night.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1325880" cy="54864"/>
          </a:xfrm>
          <a:prstGeom prst="roundRect">
            <a:avLst>
              <a:gd name="adj" fmla="val 12000"/>
            </a:avLst>
          </a:prstGeom>
          <a:solidFill>
            <a:srgbClr val="9A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416552"/>
            <a:ext cx="4206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900" b="1" i="0">
                <a:solidFill>
                  <a:srgbClr val="F6F7FF"/>
                </a:solidFill>
                <a:latin typeface="Aptos"/>
              </a:defRPr>
            </a:pPr>
            <a:r>
              <a:t>GATHERTV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01184"/>
            <a:ext cx="4206240" cy="53758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63DCFF"/>
                </a:solidFill>
                <a:latin typeface="Aptos"/>
              </a:defRPr>
            </a:pPr>
            <a:r>
              <a:rPr dirty="0"/>
              <a:t>Ama Hitiarachchi</a:t>
            </a:r>
            <a:endParaRPr lang="en-US" dirty="0"/>
          </a:p>
          <a:p>
            <a:pPr algn="l">
              <a:spcAft>
                <a:spcPts val="400"/>
              </a:spcAft>
              <a:defRPr sz="1400" b="1" i="0">
                <a:solidFill>
                  <a:srgbClr val="63DCFF"/>
                </a:solidFill>
                <a:latin typeface="Aptos"/>
              </a:defRPr>
            </a:pPr>
            <a:r>
              <a:rPr lang="en-LK" dirty="0"/>
              <a:t>IT22079640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3DCFF"/>
                </a:solidFill>
                <a:latin typeface="Aptos"/>
              </a:defRPr>
            </a:pPr>
            <a:r>
              <a:t>01  / 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F6F7FF"/>
                </a:solidFill>
                <a:latin typeface="Aptos Display"/>
              </a:defRPr>
            </a:pPr>
            <a:r>
              <a:t>What is GatherTV?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B0B9D3"/>
                </a:solidFill>
                <a:latin typeface="Aptos"/>
              </a:defRPr>
            </a:pPr>
            <a:r>
              <a:t>A simple group decision flow on one Apple TV.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B0B9D3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057400" cy="1874519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2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0392" y="2331720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9A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363724"/>
            <a:ext cx="43891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6F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816352"/>
            <a:ext cx="1755648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6F7FF"/>
                </a:solidFill>
                <a:latin typeface="Aptos"/>
              </a:defRPr>
            </a:pPr>
            <a:r>
              <a:t>Create movie 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310128"/>
            <a:ext cx="1737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0B9D3"/>
                </a:solidFill>
                <a:latin typeface="Aptos"/>
              </a:defRPr>
            </a:pPr>
            <a:r>
              <a:t>Name the night + 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852928"/>
            <a:ext cx="502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2500" b="1" i="0">
                <a:solidFill>
                  <a:srgbClr val="9A6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148840"/>
            <a:ext cx="2057400" cy="1874519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2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76472" y="2331720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3F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22191" y="2363724"/>
            <a:ext cx="43891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6F7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816352"/>
            <a:ext cx="1755648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6F7FF"/>
                </a:solidFill>
                <a:latin typeface="Aptos"/>
              </a:defRPr>
            </a:pPr>
            <a:r>
              <a:t>Set the vibe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3310128"/>
            <a:ext cx="1737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0B9D3"/>
                </a:solidFill>
                <a:latin typeface="Aptos"/>
              </a:defRPr>
            </a:pPr>
            <a:r>
              <a:t>Mood • genres •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8152" y="2852928"/>
            <a:ext cx="502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2500" b="1" i="0">
                <a:solidFill>
                  <a:srgbClr val="3F9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148840"/>
            <a:ext cx="2057400" cy="1874519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2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702552" y="2331720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6C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48272" y="2363724"/>
            <a:ext cx="43891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6F7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816352"/>
            <a:ext cx="1755648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6F7FF"/>
                </a:solidFill>
                <a:latin typeface="Aptos"/>
              </a:defRPr>
            </a:pPr>
            <a:r>
              <a:t>Vote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310128"/>
            <a:ext cx="1737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0B9D3"/>
                </a:solidFill>
                <a:latin typeface="Aptos"/>
              </a:defRPr>
            </a:pPr>
            <a:r>
              <a:t>For or Against each film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2852928"/>
            <a:ext cx="502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2500" b="1" i="0">
                <a:solidFill>
                  <a:srgbClr val="6C7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2148840"/>
            <a:ext cx="2057400" cy="1874519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2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28632" y="2331720"/>
            <a:ext cx="530352" cy="292608"/>
          </a:xfrm>
          <a:prstGeom prst="roundRect">
            <a:avLst>
              <a:gd name="adj" fmla="val 12000"/>
            </a:avLst>
          </a:prstGeom>
          <a:solidFill>
            <a:srgbClr val="63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74352" y="2363724"/>
            <a:ext cx="43891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6F7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8632" y="2816352"/>
            <a:ext cx="1755648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6F7FF"/>
                </a:solidFill>
                <a:latin typeface="Aptos"/>
              </a:defRPr>
            </a:pPr>
            <a:r>
              <a:t>See the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632" y="3310128"/>
            <a:ext cx="1737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0B9D3"/>
                </a:solidFill>
                <a:latin typeface="Aptos"/>
              </a:defRPr>
            </a:pPr>
            <a:r>
              <a:t>Vote score + mood match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26280"/>
            <a:ext cx="10789920" cy="1051560"/>
          </a:xfrm>
          <a:prstGeom prst="roundRect">
            <a:avLst>
              <a:gd name="adj" fmla="val 12000"/>
            </a:avLst>
          </a:prstGeom>
          <a:solidFill>
            <a:srgbClr val="19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736592"/>
            <a:ext cx="27432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63DCFF"/>
                </a:solidFill>
                <a:latin typeface="Aptos"/>
              </a:defRPr>
            </a:pPr>
            <a:r>
              <a:t>NATIVE tvOS PROTOTYPE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074920"/>
            <a:ext cx="3657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6F7FF"/>
                </a:solidFill>
                <a:latin typeface="Aptos"/>
              </a:defRPr>
            </a:pPr>
            <a:r>
              <a:t>One Apple TV • one shared remote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4727448"/>
            <a:ext cx="5303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C56A"/>
                </a:solidFill>
                <a:latin typeface="Aptos"/>
              </a:defRPr>
            </a:pPr>
            <a:r>
              <a:t>PROTOTYPE LIMITS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5010912"/>
            <a:ext cx="53035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6F7FF"/>
                </a:solidFill>
                <a:latin typeface="Aptos"/>
              </a:defRPr>
            </a:pPr>
            <a:r>
              <a:t>14 fictional films  •  No accounts  •  No playback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3DCFF"/>
                </a:solidFill>
                <a:latin typeface="Aptos"/>
              </a:defRPr>
            </a:pPr>
            <a:r>
              <a:t>02  /  THE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F6F7FF"/>
                </a:solidFill>
                <a:latin typeface="Aptos Display"/>
              </a:defRPr>
            </a:pPr>
            <a:r>
              <a:t>Who is it for?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B0B9D3"/>
                </a:solidFill>
                <a:latin typeface="Aptos"/>
              </a:defRPr>
            </a:pPr>
            <a:r>
              <a:t>Designed around a shared screen and a shared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B0B9D3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20240"/>
            <a:ext cx="4617720" cy="3520440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267712"/>
            <a:ext cx="3840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63DCFF"/>
                </a:solidFill>
                <a:latin typeface="Aptos"/>
              </a:defRPr>
            </a:pPr>
            <a:r>
              <a:t>FRIENDS  /  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761488"/>
            <a:ext cx="3840480" cy="8046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6F7FF"/>
                </a:solidFill>
                <a:latin typeface="Aptos Display"/>
              </a:defRPr>
            </a:pPr>
            <a:r>
              <a:t>2–8 named</a:t>
            </a:r>
          </a:p>
          <a:p>
            <a:pPr algn="l">
              <a:spcAft>
                <a:spcPts val="400"/>
              </a:spcAft>
              <a:defRPr sz="2700" b="1" i="0">
                <a:solidFill>
                  <a:srgbClr val="F6F7FF"/>
                </a:solidFill>
                <a:latin typeface="Aptos Display"/>
              </a:defRPr>
            </a:pPr>
            <a:r>
              <a:t>participants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794760"/>
            <a:ext cx="384048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700" b="0" i="0">
                <a:solidFill>
                  <a:srgbClr val="B0B9D3"/>
                </a:solidFill>
                <a:latin typeface="Aptos"/>
              </a:defRPr>
            </a:pPr>
            <a:r>
              <a:t>Together in one room.</a:t>
            </a:r>
          </a:p>
          <a:p>
            <a:pPr algn="l">
              <a:spcAft>
                <a:spcPts val="400"/>
              </a:spcAft>
              <a:defRPr sz="1700" b="0" i="0">
                <a:solidFill>
                  <a:srgbClr val="B0B9D3"/>
                </a:solidFill>
                <a:latin typeface="Aptos"/>
              </a:defRPr>
            </a:pPr>
            <a:r>
              <a:t>Passing one Apple TV remote.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4736592"/>
            <a:ext cx="310896" cy="310896"/>
          </a:xfrm>
          <a:prstGeom prst="ellipse">
            <a:avLst/>
          </a:prstGeom>
          <a:solidFill>
            <a:srgbClr val="9A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554480" y="4736592"/>
            <a:ext cx="310896" cy="310896"/>
          </a:xfrm>
          <a:prstGeom prst="ellipse">
            <a:avLst/>
          </a:prstGeom>
          <a:solidFill>
            <a:srgbClr val="3F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57400" y="4736592"/>
            <a:ext cx="310896" cy="310896"/>
          </a:xfrm>
          <a:prstGeom prst="ellipse">
            <a:avLst/>
          </a:prstGeom>
          <a:solidFill>
            <a:srgbClr val="63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560320" y="4736592"/>
            <a:ext cx="310896" cy="310896"/>
          </a:xfrm>
          <a:prstGeom prst="ellipse">
            <a:avLst/>
          </a:prstGeom>
          <a:solidFill>
            <a:srgbClr val="6BE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63240" y="4736592"/>
            <a:ext cx="310896" cy="310896"/>
          </a:xfrm>
          <a:prstGeom prst="ellipse">
            <a:avLst/>
          </a:prstGeom>
          <a:solidFill>
            <a:srgbClr val="FFC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5138928"/>
            <a:ext cx="374903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B0B9D3"/>
                </a:solidFill>
                <a:latin typeface="Aptos"/>
              </a:defRPr>
            </a:pPr>
            <a:r>
              <a:t>A limit enforced by the Create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0992" y="1920240"/>
            <a:ext cx="5806440" cy="1417320"/>
          </a:xfrm>
          <a:prstGeom prst="roundRect">
            <a:avLst>
              <a:gd name="adj" fmla="val 12000"/>
            </a:avLst>
          </a:prstGeom>
          <a:solidFill>
            <a:srgbClr val="19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2176272"/>
            <a:ext cx="49377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9A69FF"/>
                </a:solidFill>
                <a:latin typeface="Aptos"/>
              </a:defRPr>
            </a:pPr>
            <a:r>
              <a:t>THE 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578608"/>
            <a:ext cx="4937760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900" b="1" i="0">
                <a:solidFill>
                  <a:srgbClr val="F6F7FF"/>
                </a:solidFill>
                <a:latin typeface="Aptos"/>
              </a:defRPr>
            </a:pPr>
            <a:r>
              <a:t>Agree what to watch tonight.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50992" y="3593592"/>
            <a:ext cx="5806440" cy="960120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89320" y="3803904"/>
            <a:ext cx="50292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C56A"/>
                </a:solidFill>
                <a:latin typeface="Aptos"/>
              </a:defRPr>
            </a:pPr>
            <a:r>
              <a:t>NOT THE CURRENT USE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096512"/>
            <a:ext cx="5029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B0B9D3"/>
                </a:solidFill>
                <a:latin typeface="Aptos"/>
              </a:defRPr>
            </a:pPr>
            <a:r>
              <a:t>Solo viewing or people in different cities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3DCFF"/>
                </a:solidFill>
                <a:latin typeface="Aptos"/>
              </a:defRPr>
            </a:pPr>
            <a:r>
              <a:t>03  /  EXISTING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F6F7FF"/>
                </a:solidFill>
                <a:latin typeface="Aptos Display"/>
              </a:defRPr>
            </a:pPr>
            <a:r>
              <a:t>What already exists?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88136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B0B9D3"/>
                </a:solidFill>
                <a:latin typeface="Aptos"/>
              </a:defRPr>
            </a:pPr>
            <a:r>
              <a:rPr dirty="0"/>
              <a:t>Useful products </a:t>
            </a:r>
            <a:r>
              <a:rPr lang="en-US" dirty="0"/>
              <a:t>-</a:t>
            </a:r>
            <a:r>
              <a:rPr dirty="0"/>
              <a:t> but each solves a different part of the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B0B9D3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20240"/>
            <a:ext cx="5285232" cy="1490472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2A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920240"/>
            <a:ext cx="73152" cy="1490472"/>
          </a:xfrm>
          <a:prstGeom prst="rect">
            <a:avLst/>
          </a:prstGeom>
          <a:solidFill>
            <a:srgbClr val="9A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084832"/>
            <a:ext cx="4663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6F7FF"/>
                </a:solidFill>
                <a:latin typeface="Aptos"/>
              </a:defRPr>
            </a:pPr>
            <a:r>
              <a:t>Apple TV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50592"/>
            <a:ext cx="47091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0B9D3"/>
                </a:solidFill>
                <a:latin typeface="Aptos"/>
              </a:defRPr>
            </a:pPr>
            <a:r>
              <a:t>Recommends from household profile history; supports SharePlay.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44368"/>
            <a:ext cx="47091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9A69FF"/>
                </a:solidFill>
                <a:latin typeface="Aptos"/>
              </a:defRPr>
            </a:pPr>
            <a:r>
              <a:t>GatherTV adds named For / Against votes for tonight.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20240"/>
            <a:ext cx="5285232" cy="1490472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2A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920240"/>
            <a:ext cx="73152" cy="1490472"/>
          </a:xfrm>
          <a:prstGeom prst="rect">
            <a:avLst/>
          </a:prstGeom>
          <a:solidFill>
            <a:srgbClr val="3F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2084832"/>
            <a:ext cx="4663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6F7FF"/>
                </a:solidFill>
                <a:latin typeface="Aptos"/>
              </a:defRPr>
            </a:pPr>
            <a:r>
              <a:t>Letterboxd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450592"/>
            <a:ext cx="47091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0B9D3"/>
                </a:solidFill>
                <a:latin typeface="Aptos"/>
              </a:defRPr>
            </a:pPr>
            <a:r>
              <a:t>Film diary: ratings, reviews, lists and watchlist.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944368"/>
            <a:ext cx="47091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3F9FFF"/>
                </a:solidFill>
                <a:latin typeface="Aptos"/>
              </a:defRPr>
            </a:pPr>
            <a:r>
              <a:t>GatherTV is a group decision, not a diary.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703320"/>
            <a:ext cx="5285232" cy="1490472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2A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3703320"/>
            <a:ext cx="73152" cy="1490472"/>
          </a:xfrm>
          <a:prstGeom prst="rect">
            <a:avLst/>
          </a:prstGeom>
          <a:solidFill>
            <a:srgbClr val="63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867911"/>
            <a:ext cx="4663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6F7FF"/>
                </a:solidFill>
                <a:latin typeface="Aptos"/>
              </a:defRPr>
            </a:pPr>
            <a:r>
              <a:t>JustWatch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233672"/>
            <a:ext cx="47091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0B9D3"/>
                </a:solidFill>
                <a:latin typeface="Aptos"/>
              </a:defRPr>
            </a:pPr>
            <a:r>
              <a:t>Finds where a title is available to stream.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727448"/>
            <a:ext cx="47091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63DCFF"/>
                </a:solidFill>
                <a:latin typeface="Aptos"/>
              </a:defRPr>
            </a:pPr>
            <a:r>
              <a:t>GatherTV decides before the service search.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703320"/>
            <a:ext cx="5285232" cy="1490472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2A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703320"/>
            <a:ext cx="73152" cy="1490472"/>
          </a:xfrm>
          <a:prstGeom prst="rect">
            <a:avLst/>
          </a:prstGeom>
          <a:solidFill>
            <a:srgbClr val="6C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3867911"/>
            <a:ext cx="4663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6F7FF"/>
                </a:solidFill>
                <a:latin typeface="Aptos"/>
              </a:defRPr>
            </a:pPr>
            <a:r>
              <a:t>Teleparty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233672"/>
            <a:ext cx="47091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B0B9D3"/>
                </a:solidFill>
                <a:latin typeface="Aptos"/>
              </a:defRPr>
            </a:pPr>
            <a:r>
              <a:t>Synchronised playback and chat across supported services.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4727448"/>
            <a:ext cx="47091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6C7EFF"/>
                </a:solidFill>
                <a:latin typeface="Aptos"/>
              </a:defRPr>
            </a:pPr>
            <a:r>
              <a:t>GatherTV votes on one TV; it does not play video.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650992"/>
            <a:ext cx="107899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6F7FF"/>
                </a:solidFill>
                <a:latin typeface="Aptos"/>
              </a:defRPr>
            </a:pPr>
            <a:r>
              <a:t>GatherTV’s difference: same-room voting + a readable explanation of the ranking.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3DCFF"/>
                </a:solidFill>
                <a:latin typeface="Aptos"/>
              </a:defRPr>
            </a:pPr>
            <a:r>
              <a:t>04  /  LIVE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F6F7FF"/>
                </a:solidFill>
                <a:latin typeface="Aptos Display"/>
              </a:defRPr>
            </a:pPr>
            <a:r>
              <a:t>The prototype &amp; Group Mood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B0B9D3"/>
                </a:solidFill>
                <a:latin typeface="Aptos"/>
              </a:defRPr>
            </a:pPr>
            <a:r>
              <a:t>Replace these four labelled placeholders with your real simulator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B0B9D3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4983480" cy="3383280"/>
          </a:xfrm>
          <a:prstGeom prst="roundRect">
            <a:avLst>
              <a:gd name="adj" fmla="val 12000"/>
            </a:avLst>
          </a:prstGeom>
          <a:solidFill>
            <a:srgbClr val="0D1226"/>
          </a:solidFill>
          <a:ln w="12700">
            <a:solidFill>
              <a:srgbClr val="9A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77824" y="2039112"/>
            <a:ext cx="329184" cy="256032"/>
          </a:xfrm>
          <a:prstGeom prst="roundRect">
            <a:avLst>
              <a:gd name="adj" fmla="val 12000"/>
            </a:avLst>
          </a:prstGeom>
          <a:solidFill>
            <a:srgbClr val="9A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07592" y="2039112"/>
            <a:ext cx="423367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9A69FF"/>
                </a:solidFill>
                <a:latin typeface="Aptos"/>
              </a:defRPr>
            </a:pPr>
            <a:r>
              <a:t>01 • HOME / GROUP MOOD 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1888" y="1682496"/>
            <a:ext cx="2606040" cy="1764791"/>
          </a:xfrm>
          <a:prstGeom prst="roundRect">
            <a:avLst>
              <a:gd name="adj" fmla="val 12000"/>
            </a:avLst>
          </a:prstGeom>
          <a:solidFill>
            <a:srgbClr val="0D1226"/>
          </a:solidFill>
          <a:ln w="12700">
            <a:solidFill>
              <a:srgbClr val="3F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26479" y="1779315"/>
            <a:ext cx="329184" cy="256032"/>
          </a:xfrm>
          <a:prstGeom prst="roundRect">
            <a:avLst>
              <a:gd name="adj" fmla="val 12000"/>
            </a:avLst>
          </a:prstGeom>
          <a:solidFill>
            <a:srgbClr val="3F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4567" y="1791685"/>
            <a:ext cx="185623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3F9FFF"/>
                </a:solidFill>
                <a:latin typeface="Aptos"/>
              </a:defRPr>
            </a:pPr>
            <a:r>
              <a:rPr dirty="0"/>
              <a:t>02 • CREATE NIGHT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05672" y="1682496"/>
            <a:ext cx="2606040" cy="1764791"/>
          </a:xfrm>
          <a:prstGeom prst="roundRect">
            <a:avLst>
              <a:gd name="adj" fmla="val 12000"/>
            </a:avLst>
          </a:prstGeom>
          <a:solidFill>
            <a:srgbClr val="0D1226"/>
          </a:solidFill>
          <a:ln w="12700">
            <a:solidFill>
              <a:srgbClr val="63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03478" y="1779315"/>
            <a:ext cx="329184" cy="256032"/>
          </a:xfrm>
          <a:prstGeom prst="roundRect">
            <a:avLst>
              <a:gd name="adj" fmla="val 12000"/>
            </a:avLst>
          </a:prstGeom>
          <a:solidFill>
            <a:srgbClr val="63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400032" y="1779315"/>
            <a:ext cx="185623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3DCFF"/>
                </a:solidFill>
                <a:latin typeface="Aptos"/>
              </a:defRPr>
            </a:pPr>
            <a:r>
              <a:rPr dirty="0"/>
              <a:t>03 • VOTING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61888" y="3685032"/>
            <a:ext cx="5449824" cy="2002536"/>
          </a:xfrm>
          <a:prstGeom prst="roundRect">
            <a:avLst>
              <a:gd name="adj" fmla="val 12000"/>
            </a:avLst>
          </a:prstGeom>
          <a:solidFill>
            <a:srgbClr val="0D1226"/>
          </a:solidFill>
          <a:ln w="12700">
            <a:solidFill>
              <a:srgbClr val="6C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79" y="3849624"/>
            <a:ext cx="329184" cy="256032"/>
          </a:xfrm>
          <a:prstGeom prst="roundRect">
            <a:avLst>
              <a:gd name="adj" fmla="val 12000"/>
            </a:avLst>
          </a:prstGeom>
          <a:solidFill>
            <a:srgbClr val="6C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56248" y="3849624"/>
            <a:ext cx="4700016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C7EFF"/>
                </a:solidFill>
                <a:latin typeface="Aptos"/>
              </a:defRPr>
            </a:pPr>
            <a:r>
              <a:t>04 •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4965192" cy="640080"/>
          </a:xfrm>
          <a:prstGeom prst="roundRect">
            <a:avLst>
              <a:gd name="adj" fmla="val 12000"/>
            </a:avLst>
          </a:prstGeom>
          <a:solidFill>
            <a:srgbClr val="19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5623560"/>
            <a:ext cx="214884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3DCFF"/>
                </a:solidFill>
                <a:latin typeface="Aptos"/>
              </a:defRPr>
            </a:pPr>
            <a:r>
              <a:t>VOTE SCORE  =  THE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5623560"/>
            <a:ext cx="2212848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9A69FF"/>
                </a:solidFill>
                <a:latin typeface="Aptos"/>
              </a:defRPr>
            </a:pPr>
            <a:r>
              <a:t>MOOD MATCH  =  THE 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8244" y="5861304"/>
            <a:ext cx="530352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 i="0">
                <a:solidFill>
                  <a:srgbClr val="F6F7FF"/>
                </a:solidFill>
                <a:latin typeface="Aptos"/>
              </a:defRPr>
            </a:pPr>
            <a:r>
              <a:rPr dirty="0"/>
              <a:t>For +1  •  Against −1  •  Mood Match breaks ties only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53E7E9E-F5D2-71B6-3F48-69969B52C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302" y="2317397"/>
            <a:ext cx="4431791" cy="254721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282473A-3E3D-1565-0944-7DC67FEA1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745" y="2080802"/>
            <a:ext cx="2312894" cy="130866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65349F0-9593-88E9-9B22-FBDA13AE3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0445" y="2064946"/>
            <a:ext cx="2353909" cy="132617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A12F932-F079-626C-EADA-6BE2EB6D14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5938" y="3773568"/>
            <a:ext cx="3557726" cy="1785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3DCFF"/>
                </a:solidFill>
                <a:latin typeface="Aptos"/>
              </a:defRPr>
            </a:pPr>
            <a:r>
              <a:t>05  /  BUSINESS POSSIBILITY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F6F7FF"/>
                </a:solidFill>
                <a:latin typeface="Aptos Display"/>
              </a:defRPr>
            </a:pPr>
            <a:r>
              <a:t>How could it make money?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B0B9D3"/>
                </a:solidFill>
                <a:latin typeface="Aptos"/>
              </a:defRPr>
            </a:pPr>
            <a:r>
              <a:t>Two future options to explore — neither exists in the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B0B9D3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93392"/>
            <a:ext cx="5230368" cy="2697480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32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2267712"/>
            <a:ext cx="1170432" cy="292608"/>
          </a:xfrm>
          <a:prstGeom prst="roundRect">
            <a:avLst>
              <a:gd name="adj" fmla="val 12000"/>
            </a:avLst>
          </a:prstGeom>
          <a:solidFill>
            <a:srgbClr val="9A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99716"/>
            <a:ext cx="107899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6F7FF"/>
                </a:solidFill>
                <a:latin typeface="Aptos"/>
              </a:defRPr>
            </a:pPr>
            <a:r>
              <a:t>OPTION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448056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200" b="1" i="0">
                <a:solidFill>
                  <a:srgbClr val="F6F7FF"/>
                </a:solidFill>
                <a:latin typeface="Aptos Display"/>
              </a:defRPr>
            </a:pPr>
            <a:r>
              <a:t>Free decision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452628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B0B9D3"/>
                </a:solidFill>
                <a:latin typeface="Aptos"/>
              </a:defRPr>
            </a:pPr>
            <a:r>
              <a:t>A future hand-off to a service to rent, buy or stream a real film.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224528"/>
            <a:ext cx="452628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3DCFF"/>
                </a:solidFill>
                <a:latin typeface="Aptos"/>
              </a:defRPr>
            </a:pPr>
            <a:r>
              <a:t>Possible referral model • no agreement exists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93392"/>
            <a:ext cx="5230368" cy="2697480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32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2267712"/>
            <a:ext cx="1170432" cy="292608"/>
          </a:xfrm>
          <a:prstGeom prst="roundRect">
            <a:avLst>
              <a:gd name="adj" fmla="val 12000"/>
            </a:avLst>
          </a:prstGeom>
          <a:solidFill>
            <a:srgbClr val="3F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2299716"/>
            <a:ext cx="107899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6F7FF"/>
                </a:solidFill>
                <a:latin typeface="Aptos"/>
              </a:defRPr>
            </a:pPr>
            <a:r>
              <a:t>OPTION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88920"/>
            <a:ext cx="45262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200" b="1" i="0">
                <a:solidFill>
                  <a:srgbClr val="F6F7FF"/>
                </a:solidFill>
                <a:latin typeface="Aptos Display"/>
              </a:defRPr>
            </a:pPr>
            <a:r>
              <a:t>Paid sync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01568"/>
            <a:ext cx="452628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B0B9D3"/>
                </a:solidFill>
                <a:latin typeface="Aptos"/>
              </a:defRPr>
            </a:pPr>
            <a:r>
              <a:t>A possible paid extra if multi-device support is built later.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24528"/>
            <a:ext cx="452628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3DCFF"/>
                </a:solidFill>
                <a:latin typeface="Aptos"/>
              </a:defRPr>
            </a:pPr>
            <a:r>
              <a:t>Requires features that do not exist yet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5074920"/>
            <a:ext cx="10680192" cy="777240"/>
          </a:xfrm>
          <a:prstGeom prst="roundRect">
            <a:avLst>
              <a:gd name="adj" fmla="val 12000"/>
            </a:avLst>
          </a:prstGeom>
          <a:solidFill>
            <a:srgbClr val="2B1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285232"/>
            <a:ext cx="101498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FFC56A"/>
                </a:solidFill>
                <a:latin typeface="Aptos"/>
              </a:defRPr>
            </a:pPr>
            <a:r>
              <a:t>TODAY: no revenue • no pricing • no ads • no accounts • no payments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3DCFF"/>
                </a:solidFill>
                <a:latin typeface="Aptos"/>
              </a:defRPr>
            </a:pPr>
            <a:r>
              <a:t>06  /  PROPOSED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F6F7FF"/>
                </a:solidFill>
                <a:latin typeface="Aptos Display"/>
              </a:defRPr>
            </a:pPr>
            <a:r>
              <a:t>How could it reach people?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B0B9D3"/>
                </a:solidFill>
                <a:latin typeface="Aptos"/>
              </a:defRPr>
            </a:pPr>
            <a:r>
              <a:t>A future plan — these steps have not started.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B0B9D3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331720"/>
            <a:ext cx="3310128" cy="2423160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2A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33271" y="2578608"/>
            <a:ext cx="621792" cy="292608"/>
          </a:xfrm>
          <a:prstGeom prst="roundRect">
            <a:avLst>
              <a:gd name="adj" fmla="val 12000"/>
            </a:avLst>
          </a:prstGeom>
          <a:solidFill>
            <a:srgbClr val="9A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610612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6F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154680"/>
            <a:ext cx="27889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900" b="1" i="0">
                <a:solidFill>
                  <a:srgbClr val="F6F7FF"/>
                </a:solidFill>
                <a:latin typeface="Aptos"/>
              </a:defRPr>
            </a:pPr>
            <a:r>
              <a:t>Polish the TV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858768"/>
            <a:ext cx="2770632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0B9D3"/>
                </a:solidFill>
                <a:latin typeface="Aptos"/>
              </a:defRPr>
            </a:pPr>
            <a:r>
              <a:t>Finish app icon + Top Shelf artwork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9664" y="3246120"/>
            <a:ext cx="384048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2400" b="1" i="0">
                <a:solidFill>
                  <a:srgbClr val="9A6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6864" y="2331720"/>
            <a:ext cx="3310128" cy="2423160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2A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55464" y="2578608"/>
            <a:ext cx="621792" cy="292608"/>
          </a:xfrm>
          <a:prstGeom prst="roundRect">
            <a:avLst>
              <a:gd name="adj" fmla="val 12000"/>
            </a:avLst>
          </a:prstGeom>
          <a:solidFill>
            <a:srgbClr val="3F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01183" y="2610612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6F7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3154680"/>
            <a:ext cx="27889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900" b="1" i="0">
                <a:solidFill>
                  <a:srgbClr val="F6F7FF"/>
                </a:solidFill>
                <a:latin typeface="Aptos"/>
              </a:defRPr>
            </a:pPr>
            <a:r>
              <a:t>Test in real homes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5464" y="3858768"/>
            <a:ext cx="2770632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0B9D3"/>
                </a:solidFill>
                <a:latin typeface="Aptos"/>
              </a:defRPr>
            </a:pPr>
            <a:r>
              <a:t>Try the remote flow with a few Apple TV households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3246120"/>
            <a:ext cx="384048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2400" b="1" i="0">
                <a:solidFill>
                  <a:srgbClr val="3F9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49056" y="2331720"/>
            <a:ext cx="3310128" cy="2423160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2A3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677656" y="2578608"/>
            <a:ext cx="621792" cy="292608"/>
          </a:xfrm>
          <a:prstGeom prst="roundRect">
            <a:avLst>
              <a:gd name="adj" fmla="val 12000"/>
            </a:avLst>
          </a:prstGeom>
          <a:solidFill>
            <a:srgbClr val="63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23376" y="2610612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F6F7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7656" y="3154680"/>
            <a:ext cx="278892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900" b="1" i="0">
                <a:solidFill>
                  <a:srgbClr val="F6F7FF"/>
                </a:solidFill>
                <a:latin typeface="Aptos"/>
              </a:defRPr>
            </a:pPr>
            <a:r>
              <a:t>Assess release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7656" y="3858768"/>
            <a:ext cx="2770632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B0B9D3"/>
                </a:solidFill>
                <a:latin typeface="Aptos"/>
              </a:defRPr>
            </a:pPr>
            <a:r>
              <a:t>Consider App Store only if catalogue rights are solved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212080"/>
            <a:ext cx="10515600" cy="640080"/>
          </a:xfrm>
          <a:prstGeom prst="roundRect">
            <a:avLst>
              <a:gd name="adj" fmla="val 12000"/>
            </a:avLst>
          </a:prstGeom>
          <a:solidFill>
            <a:srgbClr val="19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394960"/>
            <a:ext cx="10058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0B9D3"/>
                </a:solidFill>
                <a:latin typeface="Aptos"/>
              </a:defRPr>
            </a:pPr>
            <a:r>
              <a:t>No waitlist • no advertising campaign • no partners in place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08813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63DCFF"/>
                </a:solidFill>
                <a:latin typeface="Aptos"/>
              </a:defRPr>
            </a:pPr>
            <a:r>
              <a:t>07  / 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972800" cy="5016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F6F7FF"/>
                </a:solidFill>
                <a:latin typeface="Aptos Display"/>
              </a:defRPr>
            </a:pPr>
            <a:r>
              <a:rPr dirty="0"/>
              <a:t>What is real </a:t>
            </a:r>
            <a:r>
              <a:rPr lang="en-US" dirty="0"/>
              <a:t>- </a:t>
            </a:r>
            <a:r>
              <a:rPr dirty="0"/>
              <a:t>and what comes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881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B0B9D3"/>
                </a:solidFill>
                <a:latin typeface="Aptos"/>
              </a:defRPr>
            </a:pPr>
            <a:r>
              <a:t>A prototype to evaluate, not a company asking for funding.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0" i="0">
                <a:solidFill>
                  <a:srgbClr val="B0B9D3"/>
                </a:solidFill>
                <a:latin typeface="Aptos"/>
              </a:defRPr>
            </a:pPr>
            <a:r>
              <a:t>08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38528"/>
            <a:ext cx="5138928" cy="2487168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30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4480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6BE2B9"/>
                </a:solidFill>
                <a:latin typeface="Aptos"/>
              </a:defRPr>
            </a:pPr>
            <a:r>
              <a:t>REAL IN THIS PROTOTYPE</a:t>
            </a:r>
          </a:p>
        </p:txBody>
      </p:sp>
      <p:sp>
        <p:nvSpPr>
          <p:cNvPr id="8" name="Oval 7"/>
          <p:cNvSpPr/>
          <p:nvPr/>
        </p:nvSpPr>
        <p:spPr>
          <a:xfrm>
            <a:off x="1078992" y="2788920"/>
            <a:ext cx="109728" cy="109728"/>
          </a:xfrm>
          <a:prstGeom prst="ellipse">
            <a:avLst/>
          </a:prstGeom>
          <a:solidFill>
            <a:srgbClr val="6BE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2734056"/>
            <a:ext cx="4160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6F7FF"/>
                </a:solidFill>
                <a:latin typeface="Aptos"/>
              </a:defRPr>
            </a:pPr>
            <a:r>
              <a:t>Movie-night flow + two separate scores</a:t>
            </a:r>
          </a:p>
        </p:txBody>
      </p:sp>
      <p:sp>
        <p:nvSpPr>
          <p:cNvPr id="10" name="Oval 9"/>
          <p:cNvSpPr/>
          <p:nvPr/>
        </p:nvSpPr>
        <p:spPr>
          <a:xfrm>
            <a:off x="1078992" y="3227832"/>
            <a:ext cx="109728" cy="109728"/>
          </a:xfrm>
          <a:prstGeom prst="ellipse">
            <a:avLst/>
          </a:prstGeom>
          <a:solidFill>
            <a:srgbClr val="6BE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98448" y="3172968"/>
            <a:ext cx="4160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6F7FF"/>
                </a:solidFill>
                <a:latin typeface="Aptos"/>
              </a:defRPr>
            </a:pPr>
            <a:r>
              <a:t>Local saving on one Apple TV</a:t>
            </a:r>
          </a:p>
        </p:txBody>
      </p:sp>
      <p:sp>
        <p:nvSpPr>
          <p:cNvPr id="12" name="Oval 11"/>
          <p:cNvSpPr/>
          <p:nvPr/>
        </p:nvSpPr>
        <p:spPr>
          <a:xfrm>
            <a:off x="1078992" y="3666744"/>
            <a:ext cx="109728" cy="109728"/>
          </a:xfrm>
          <a:prstGeom prst="ellipse">
            <a:avLst/>
          </a:prstGeom>
          <a:solidFill>
            <a:srgbClr val="6BE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98448" y="3611880"/>
            <a:ext cx="41605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6F7FF"/>
                </a:solidFill>
                <a:latin typeface="Aptos"/>
              </a:defRPr>
            </a:pPr>
            <a:r>
              <a:t>Ranking logic covered by unit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38528"/>
            <a:ext cx="5230368" cy="2487168"/>
          </a:xfrm>
          <a:prstGeom prst="roundRect">
            <a:avLst>
              <a:gd name="adj" fmla="val 12000"/>
            </a:avLst>
          </a:prstGeom>
          <a:solidFill>
            <a:srgbClr val="12172D"/>
          </a:solidFill>
          <a:ln w="12700">
            <a:solidFill>
              <a:srgbClr val="51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212848"/>
            <a:ext cx="4480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FFC56A"/>
                </a:solidFill>
                <a:latin typeface="Aptos"/>
              </a:defRPr>
            </a:pPr>
            <a:r>
              <a:t>NOT BUILT / NOT CLAIMED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2788920"/>
            <a:ext cx="109728" cy="109728"/>
          </a:xfrm>
          <a:prstGeom prst="ellipse">
            <a:avLst/>
          </a:prstGeom>
          <a:solidFill>
            <a:srgbClr val="FFC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57416" y="2734056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6F7FF"/>
                </a:solidFill>
                <a:latin typeface="Aptos"/>
              </a:defRPr>
            </a:pPr>
            <a:r>
              <a:t>14 fictional films; no playback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3227832"/>
            <a:ext cx="109728" cy="109728"/>
          </a:xfrm>
          <a:prstGeom prst="ellipse">
            <a:avLst/>
          </a:prstGeom>
          <a:solidFill>
            <a:srgbClr val="FFC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57416" y="3172968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6F7FF"/>
                </a:solidFill>
                <a:latin typeface="Aptos"/>
              </a:defRPr>
            </a:pPr>
            <a:r>
              <a:t>No accounts, revenue or partnerships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3666744"/>
            <a:ext cx="109728" cy="109728"/>
          </a:xfrm>
          <a:prstGeom prst="ellipse">
            <a:avLst/>
          </a:prstGeom>
          <a:solidFill>
            <a:srgbClr val="FFC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57416" y="3611880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6F7FF"/>
                </a:solidFill>
                <a:latin typeface="Aptos"/>
              </a:defRPr>
            </a:pPr>
            <a:r>
              <a:t>Catalogue rights and demand unvalidated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828032"/>
            <a:ext cx="10680192" cy="932688"/>
          </a:xfrm>
          <a:prstGeom prst="roundRect">
            <a:avLst>
              <a:gd name="adj" fmla="val 12000"/>
            </a:avLst>
          </a:prstGeom>
          <a:solidFill>
            <a:srgbClr val="241C3E"/>
          </a:solidFill>
          <a:ln w="12700">
            <a:solidFill>
              <a:srgbClr val="9A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047488"/>
            <a:ext cx="10104120" cy="4754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400"/>
              </a:spcAft>
              <a:defRPr sz="1800" b="1" i="0">
                <a:solidFill>
                  <a:srgbClr val="F6F7FF"/>
                </a:solidFill>
                <a:latin typeface="Aptos"/>
              </a:defRPr>
            </a:pPr>
            <a:r>
              <a:t>I’d love your feedback: what would make this movie-night flow clearer or more useful?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6108192"/>
            <a:ext cx="10241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B0B9D3"/>
                </a:solidFill>
                <a:latin typeface="Aptos"/>
              </a:defRPr>
            </a:pPr>
            <a:r>
              <a:t>Next: replace the fictional catalogue with rights-cleared films before considering a release.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635</Words>
  <Application>Microsoft Macintosh PowerPoint</Application>
  <PresentationFormat>Widescreen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IM/2021/026 - HITIARACHCHI A.M.L.</cp:lastModifiedBy>
  <cp:revision>2</cp:revision>
  <dcterms:created xsi:type="dcterms:W3CDTF">2013-01-27T09:14:16Z</dcterms:created>
  <dcterms:modified xsi:type="dcterms:W3CDTF">2026-10-18T17:01:06Z</dcterms:modified>
  <cp:category/>
</cp:coreProperties>
</file>